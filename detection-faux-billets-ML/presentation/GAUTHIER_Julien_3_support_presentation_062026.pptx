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914400"/>
            <a:ext cx="4114800" cy="41148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3200400"/>
            <a:ext cx="2286000" cy="228600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ONCFM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automatique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faux billets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exploratoire · Modélisation · Pipeline de prédiction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749040"/>
            <a:ext cx="3200400" cy="457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Gauthier Julien  ·  Data Analyst Senior  ·  Juin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D6A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3200400"/>
            <a:ext cx="2743200" cy="274320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2926080" y="20116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Objectif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Objectif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5394960" cy="502920"/>
          </a:xfrm>
          <a:prstGeom prst="roundRect">
            <a:avLst>
              <a:gd name="adj" fmla="val 18182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07008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1874520"/>
            <a:ext cx="53949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874520"/>
            <a:ext cx="91440" cy="6400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20240"/>
            <a:ext cx="5166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Détecter automatiquement les faux billets en euros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624328"/>
            <a:ext cx="53949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624328"/>
            <a:ext cx="91440" cy="6400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670048"/>
            <a:ext cx="5166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partir de 6 mesures géométriques (en mm)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3374136"/>
            <a:ext cx="53949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3374136"/>
            <a:ext cx="91440" cy="6400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419856"/>
            <a:ext cx="5166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1 500 billets fournis, scannés et labellisés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4123944"/>
            <a:ext cx="53949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4123944"/>
            <a:ext cx="91440" cy="6400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169664"/>
            <a:ext cx="5166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final : déploiement en production (ONCFM)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0" y="1188720"/>
            <a:ext cx="5394960" cy="502920"/>
          </a:xfrm>
          <a:prstGeom prst="roundRect">
            <a:avLst>
              <a:gd name="adj" fmla="val 18182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1207008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variables géométriques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0" y="1874520"/>
            <a:ext cx="53949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1874520"/>
            <a:ext cx="91440" cy="6400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1920240"/>
            <a:ext cx="5166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: longueur du billet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0" y="2624328"/>
            <a:ext cx="53949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2624328"/>
            <a:ext cx="91440" cy="6400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2670048"/>
            <a:ext cx="5166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height_left / height_right : hauteurs gauche/droite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0" y="3374136"/>
            <a:ext cx="53949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0" y="3374136"/>
            <a:ext cx="91440" cy="6400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0" y="3419856"/>
            <a:ext cx="5166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margin_up / margin_low : marges supérieure/inférieure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00800" y="4123944"/>
            <a:ext cx="53949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4123944"/>
            <a:ext cx="91440" cy="6400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0" y="4169664"/>
            <a:ext cx="5166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 : diagonale du billet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D6A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3200400"/>
            <a:ext cx="2743200" cy="274320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2926080" y="20116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des données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des données — Résultats clés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11612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234440"/>
            <a:ext cx="109728" cy="6858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07592"/>
            <a:ext cx="1115568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1 500 billets : 1 000 vrais (66,7%) et 500 faux (33,3%) → dataset déséquilibré, accuracy trompeuse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2039112"/>
            <a:ext cx="11612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2039112"/>
            <a:ext cx="109728" cy="6858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12264"/>
            <a:ext cx="1115568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valeurs manquantes sur margin_low (2,5%) → imputation nécessaire avant modélisation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2843784"/>
            <a:ext cx="11612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843784"/>
            <a:ext cx="109728" cy="6858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916936"/>
            <a:ext cx="1115568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les plus corrélées à is_genuine : length (r=0.85), margin_low (-0.78), margin_up (-0.61)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" y="3648456"/>
            <a:ext cx="11612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3648456"/>
            <a:ext cx="109728" cy="6858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721608"/>
            <a:ext cx="1115568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 faiblement corrélée (r=0.13) → peu discriminante entre vrais et faux billets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" y="4453128"/>
            <a:ext cx="11612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4453128"/>
            <a:ext cx="109728" cy="6858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526280"/>
            <a:ext cx="1115568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et margin_low : distributions quasi disjointes entre classes → variables clés pour la prédiction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D6A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3200400"/>
            <a:ext cx="2743200" cy="274320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2926080" y="20116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Prétraitement</a:t>
            </a:r>
            <a:endParaRPr lang="en-US" sz="3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Prétraitement — Méthodologie rigoureuse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11612880" cy="685800"/>
          </a:xfrm>
          <a:prstGeom prst="roundRect">
            <a:avLst>
              <a:gd name="adj" fmla="val 10667"/>
            </a:avLst>
          </a:prstGeom>
          <a:solidFill>
            <a:srgbClr val="1E3A2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307592"/>
            <a:ext cx="1124712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Split train/test AVANT imputation → évite toute fuite de données (erreur identifiée et corrigée)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2039112"/>
            <a:ext cx="11612880" cy="685800"/>
          </a:xfrm>
          <a:prstGeom prst="roundRect">
            <a:avLst>
              <a:gd name="adj" fmla="val 10667"/>
            </a:avLst>
          </a:prstGeom>
          <a:solidFill>
            <a:srgbClr val="1E3A2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112264"/>
            <a:ext cx="1124712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Séparation : 80% train (1 200 billets) / 20% test (300 billets) — stratifié (même proportion 66%/33%)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2843784"/>
            <a:ext cx="11612880" cy="685800"/>
          </a:xfrm>
          <a:prstGeom prst="roundRect">
            <a:avLst>
              <a:gd name="adj" fmla="val 10667"/>
            </a:avLst>
          </a:prstGeom>
          <a:solidFill>
            <a:srgbClr val="1E3A2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916936"/>
            <a:ext cx="1124712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Imputation KNNImputer (k=5) : fit uniquement sur X_train, transform sur X_test — pas de fuite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3648456"/>
            <a:ext cx="11612880" cy="685800"/>
          </a:xfrm>
          <a:prstGeom prst="roundRect">
            <a:avLst>
              <a:gd name="adj" fmla="val 10667"/>
            </a:avLst>
          </a:prstGeom>
          <a:solidFill>
            <a:srgbClr val="1E3A2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721608"/>
            <a:ext cx="1124712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Standardisation (StandardScaler) intégrée individuellement : active pour régression logistique et KNN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4453128"/>
            <a:ext cx="11612880" cy="685800"/>
          </a:xfrm>
          <a:prstGeom prst="roundRect">
            <a:avLst>
              <a:gd name="adj" fmla="val 10667"/>
            </a:avLst>
          </a:prstGeom>
          <a:solidFill>
            <a:srgbClr val="1E3A2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4526280"/>
            <a:ext cx="1124712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Random Forest : aucune standardisation (basé sur des seuils, insensible à l'échelle des variables)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D6A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3200400"/>
            <a:ext cx="2743200" cy="274320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2926080" y="20116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</a:t>
            </a:r>
            <a:endParaRPr lang="en-US" sz="3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modèles testés et comparés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1188720"/>
            <a:ext cx="2834640" cy="914400"/>
          </a:xfrm>
          <a:prstGeom prst="roundRect">
            <a:avLst>
              <a:gd name="adj" fmla="val 15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2344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82880" y="170992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Logistique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" y="2240280"/>
            <a:ext cx="2834640" cy="320040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331720"/>
            <a:ext cx="26517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Probabilité via sigmoïde. Poids pondérés. Recall faux : 0.98. Interprétable.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82112" y="1188720"/>
            <a:ext cx="2834640" cy="914400"/>
          </a:xfrm>
          <a:prstGeom prst="roundRect">
            <a:avLst>
              <a:gd name="adj" fmla="val 15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82112" y="12344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182112" y="170992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(k=5)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82112" y="2240280"/>
            <a:ext cx="2834640" cy="320040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73552" y="2331720"/>
            <a:ext cx="26517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majoritaire parmi les 5 plus proches voisins. Recall faux : 0.97.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81344" y="1188720"/>
            <a:ext cx="2834640" cy="914400"/>
          </a:xfrm>
          <a:prstGeom prst="roundRect">
            <a:avLst>
              <a:gd name="adj" fmla="val 15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81344" y="12344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181344" y="170992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81344" y="2240280"/>
            <a:ext cx="2834640" cy="320040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72784" y="2331720"/>
            <a:ext cx="26517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de 100 arbres. Recall : 0.98. Robuste. Importance variables disponible.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180576" y="1188720"/>
            <a:ext cx="2834640" cy="914400"/>
          </a:xfrm>
          <a:prstGeom prst="roundRect">
            <a:avLst>
              <a:gd name="adj" fmla="val 15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80576" y="12344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180576" y="170992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(non sup.)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180576" y="2240280"/>
            <a:ext cx="2834640" cy="320040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72016" y="2331720"/>
            <a:ext cx="26517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clusters. Cluster 0 = Faux, Cluster 1 = Vrai. Recall faux : 0.98.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des 4 modèles — Recall sur les faux billets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1097280"/>
            <a:ext cx="1161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 prioritaire : Recall sur faux billets (objectif = détecter 100% des faux)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2258568"/>
            <a:ext cx="2011680" cy="3136392"/>
          </a:xfrm>
          <a:prstGeom prst="roundRect">
            <a:avLst>
              <a:gd name="adj" fmla="val 3636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4708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544068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Logistique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60533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Acc: 99.0%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0" y="2290572"/>
            <a:ext cx="2011680" cy="3104388"/>
          </a:xfrm>
          <a:prstGeom prst="roundRect">
            <a:avLst>
              <a:gd name="adj" fmla="val 3636"/>
            </a:avLst>
          </a:prstGeom>
          <a:solidFill>
            <a:srgbClr val="CC8800"/>
          </a:solidFill>
          <a:ln w="12700">
            <a:solidFill>
              <a:srgbClr val="CC88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187909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C8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291840" y="544068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60533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Acc: 98.3%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2258568"/>
            <a:ext cx="2011680" cy="3136392"/>
          </a:xfrm>
          <a:prstGeom prst="roundRect">
            <a:avLst>
              <a:gd name="adj" fmla="val 3636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84708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217920" y="544068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60533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Acc: 99.0%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509760" y="2258568"/>
            <a:ext cx="2011680" cy="3136392"/>
          </a:xfrm>
          <a:prstGeom prst="roundRect">
            <a:avLst>
              <a:gd name="adj" fmla="val 3636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09760" y="184708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144000" y="544068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0" y="60533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Acc: 98.7%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5394960"/>
            <a:ext cx="11612880" cy="0"/>
          </a:xfrm>
          <a:prstGeom prst="line">
            <a:avLst/>
          </a:prstGeom>
          <a:noFill/>
          <a:ln w="12700">
            <a:solidFill>
              <a:srgbClr val="2D6A4F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D6A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3200400"/>
            <a:ext cx="2743200" cy="274320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2926080" y="20116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&amp; Optimisation</a:t>
            </a:r>
            <a:endParaRPr lang="en-US" sz="3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le Random Forest 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11612880" cy="685800"/>
          </a:xfrm>
          <a:prstGeom prst="roundRect">
            <a:avLst>
              <a:gd name="adj" fmla="val 10667"/>
            </a:avLst>
          </a:prstGeom>
          <a:solidFill>
            <a:srgbClr val="1E3A2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307592"/>
            <a:ext cx="1124712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Performances égales à la régression logistique (accuracy 99%, recall 0.98 sur les faux billets)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2039112"/>
            <a:ext cx="11612880" cy="685800"/>
          </a:xfrm>
          <a:prstGeom prst="roundRect">
            <a:avLst>
              <a:gd name="adj" fmla="val 10667"/>
            </a:avLst>
          </a:prstGeom>
          <a:solidFill>
            <a:srgbClr val="1E3A2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112264"/>
            <a:ext cx="1124712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Pas de standardisation requise → pipeline plus simple, moins de risque d'erreur en production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2843784"/>
            <a:ext cx="11612880" cy="685800"/>
          </a:xfrm>
          <a:prstGeom prst="roundRect">
            <a:avLst>
              <a:gd name="adj" fmla="val 10667"/>
            </a:avLst>
          </a:prstGeom>
          <a:solidFill>
            <a:srgbClr val="1E3A2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916936"/>
            <a:ext cx="1124712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Plus robuste face à des données futures légèrement différentes (bruit capteur, nouvelles mesures)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3648456"/>
            <a:ext cx="11612880" cy="685800"/>
          </a:xfrm>
          <a:prstGeom prst="roundRect">
            <a:avLst>
              <a:gd name="adj" fmla="val 10667"/>
            </a:avLst>
          </a:prstGeom>
          <a:solidFill>
            <a:srgbClr val="1E3A2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721608"/>
            <a:ext cx="1124712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Fournit l'importance des variables → length &gt; margin_low &gt; margin_up &gt; diagonal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4453128"/>
            <a:ext cx="11612880" cy="685800"/>
          </a:xfrm>
          <a:prstGeom prst="roundRect">
            <a:avLst>
              <a:gd name="adj" fmla="val 10667"/>
            </a:avLst>
          </a:prstGeom>
          <a:solidFill>
            <a:srgbClr val="1E3A2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4526280"/>
            <a:ext cx="1124712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Optimisation GridSearchCV (F-beta β=2 sur faux) → n_estimators=50, max_depth=None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Ajustement du seuil de décision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11612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234440"/>
            <a:ext cx="109728" cy="6858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07592"/>
            <a:ext cx="1115568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par défaut (0.5) : 1 faux billet classé comme vrai — inacceptable pour l'ONCFM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2039112"/>
            <a:ext cx="11612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2039112"/>
            <a:ext cx="109728" cy="6858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12264"/>
            <a:ext cx="1115568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métier : 0 faux billet non détecté → seuil relevé progressivement jusqu'à 0.8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2843784"/>
            <a:ext cx="11612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843784"/>
            <a:ext cx="109728" cy="6858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916936"/>
            <a:ext cx="1115568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0.8 : recall = 1.0 (100% des faux détectés), précision = 0.962 sur les faux billets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" y="3648456"/>
            <a:ext cx="11612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3648456"/>
            <a:ext cx="109728" cy="6858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721608"/>
            <a:ext cx="1115568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Contrepartie : 4 vrais billets rejetés à tort sur 300 → vérification manuelle, risque maîtrisé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" y="4453128"/>
            <a:ext cx="11612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4453128"/>
            <a:ext cx="109728" cy="6858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526280"/>
            <a:ext cx="1115568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seuil ne donne 0 erreur des deux côtés : les classes se chevauchent sur quelques billets limites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de confusion — Random Forest optimisé (seuil 0.8)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0" y="1645920"/>
            <a:ext cx="2743200" cy="1828800"/>
          </a:xfrm>
          <a:prstGeom prst="roundRect">
            <a:avLst>
              <a:gd name="adj" fmla="val 7500"/>
            </a:avLst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0" y="182880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286000" y="26517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Vrais Négatifs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(Faux → Faux)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0" y="1645920"/>
            <a:ext cx="2743200" cy="1828800"/>
          </a:xfrm>
          <a:prstGeom prst="roundRect">
            <a:avLst>
              <a:gd name="adj" fmla="val 7500"/>
            </a:avLst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0" y="182880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✓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486400" y="26517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Faux Négatifs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(Faux → Vrai)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0" y="3749040"/>
            <a:ext cx="2743200" cy="1828800"/>
          </a:xfrm>
          <a:prstGeom prst="roundRect">
            <a:avLst>
              <a:gd name="adj" fmla="val 7500"/>
            </a:avLst>
          </a:prstGeom>
          <a:solidFill>
            <a:srgbClr val="E6B800"/>
          </a:solidFill>
          <a:ln w="12700">
            <a:solidFill>
              <a:srgbClr val="E6B8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39319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2286000" y="47548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Faux Positifs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(Vrai → Faux)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0" y="3749040"/>
            <a:ext cx="2743200" cy="1828800"/>
          </a:xfrm>
          <a:prstGeom prst="roundRect">
            <a:avLst>
              <a:gd name="adj" fmla="val 7500"/>
            </a:avLst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0" y="39319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5486400" y="47548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Vrais Positifs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(Vrai → Vrai)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86000" y="1280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Prédit Faux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0" y="1280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Prédit Vrai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288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Réel Faux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82880" y="4389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Réel Vrai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686800" y="1645920"/>
            <a:ext cx="3200400" cy="3931920"/>
          </a:xfrm>
          <a:prstGeom prst="roundRect">
            <a:avLst>
              <a:gd name="adj" fmla="val 4286"/>
            </a:avLst>
          </a:prstGeom>
          <a:solidFill>
            <a:srgbClr val="1B4332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78240" y="17830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clé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778240" y="22860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faux billet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détecté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823960" y="329184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0.8 → recall = 1.0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 = 0.962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Contrepartie 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vrais billets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rejetés à tort sur 300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(vérification manuelle)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D6A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3200400"/>
            <a:ext cx="2743200" cy="274320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2926080" y="20116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&amp; Application</a:t>
            </a:r>
            <a:endParaRPr lang="en-US" sz="3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du pipeline de prédiction (Bonus)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1188720"/>
            <a:ext cx="2240280" cy="292608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1298448"/>
            <a:ext cx="640080" cy="64008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1316736"/>
            <a:ext cx="640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2880" y="205740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2788920"/>
            <a:ext cx="2057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colonnes requises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les colonnes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trop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78608" y="1188720"/>
            <a:ext cx="2240280" cy="292608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74136" y="1298448"/>
            <a:ext cx="640080" cy="64008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74136" y="1316736"/>
            <a:ext cx="640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578608" y="205740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 vide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70048" y="2788920"/>
            <a:ext cx="2057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 explicite si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valeurs NaN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simultanément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74336" y="1188720"/>
            <a:ext cx="2240280" cy="292608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69864" y="1298448"/>
            <a:ext cx="640080" cy="64008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9864" y="1316736"/>
            <a:ext cx="640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974336" y="205740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KNNImputer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65776" y="2788920"/>
            <a:ext cx="2057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manquantes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estimées par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voisins les proches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70064" y="1188720"/>
            <a:ext cx="2240280" cy="292608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65592" y="1298448"/>
            <a:ext cx="640080" cy="64008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65592" y="1316736"/>
            <a:ext cx="640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370064" y="205740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Sélecteur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61504" y="2788920"/>
            <a:ext cx="2057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F-beta (β=2)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 le meilleur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candidat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765792" y="1188720"/>
            <a:ext cx="2240280" cy="292608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61320" y="1298448"/>
            <a:ext cx="640080" cy="64008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61320" y="1316736"/>
            <a:ext cx="640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765792" y="205740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857232" y="2788920"/>
            <a:ext cx="2057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predict_proba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0.8 → Vrai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0.8 → Faux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2880" y="4343400"/>
            <a:ext cx="11795760" cy="777240"/>
          </a:xfrm>
          <a:prstGeom prst="roundRect">
            <a:avLst>
              <a:gd name="adj" fmla="val 11765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480560"/>
            <a:ext cx="11430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 : Vrai billet (True) / Faux billet (False)  +  Récapitulatif : total · vrais · faux détectés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74320" y="5257800"/>
            <a:ext cx="1161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 intégré individuellement par modèle  ·  Seuil 0.8 embarqué  ·  Sauvegardé via joblib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de l'application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5486400" cy="4572000"/>
          </a:xfrm>
          <a:prstGeom prst="roundRect">
            <a:avLst>
              <a:gd name="adj" fmla="val 3000"/>
            </a:avLst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2588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CSV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5120640" cy="1645920"/>
          </a:xfrm>
          <a:prstGeom prst="roundRect">
            <a:avLst>
              <a:gd name="adj" fmla="val 4444"/>
            </a:avLst>
          </a:prstGeom>
          <a:solidFill>
            <a:srgbClr val="0D2B1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92808"/>
            <a:ext cx="4937760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E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app.py billets_production.csv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7E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Modèle chargé avec succès.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7E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Billet 1 : Vrai billet (True)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7E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Billet 2 : Faux billet (False)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7E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 Récapitulatif ---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7E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: 5 | Vrais : 3 | Faux : 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74904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Idéal pour analyser un lot de billets reçus chaque jour.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0" y="1188720"/>
            <a:ext cx="5486400" cy="4572000"/>
          </a:xfrm>
          <a:prstGeom prst="roundRect">
            <a:avLst>
              <a:gd name="adj" fmla="val 3000"/>
            </a:avLst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32588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saisie manuelle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583680" y="1828800"/>
            <a:ext cx="5120640" cy="1645920"/>
          </a:xfrm>
          <a:prstGeom prst="roundRect">
            <a:avLst>
              <a:gd name="adj" fmla="val 4444"/>
            </a:avLst>
          </a:prstGeom>
          <a:solidFill>
            <a:srgbClr val="0D2B1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1892808"/>
            <a:ext cx="4937760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E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app.py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7E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diagonal : 171.8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7E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height_left : 104.2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7E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7E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Billet 1 : Vrai billet (True)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0" y="374904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Idéal pour tester un billet isolé directement au scanner.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D6A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3200400"/>
            <a:ext cx="2743200" cy="274320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2926080" y="20116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Recommandations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11612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234440"/>
            <a:ext cx="109728" cy="6858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61872"/>
            <a:ext cx="1115568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Modèle retenu : Random Forest — robuste, pas de scaler requis, importance des variables disponible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2039112"/>
            <a:ext cx="11612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2039112"/>
            <a:ext cx="109728" cy="6858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066544"/>
            <a:ext cx="1115568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Seuil ajusté à 0.8 → 0 faux billet classé comme vrai (priorité métier garantie)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2843784"/>
            <a:ext cx="11612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843784"/>
            <a:ext cx="109728" cy="6858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871216"/>
            <a:ext cx="1115568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Recall = 1.0 sur les faux billets · Accuracy = 99% · 4 vrais billets rejetés à tort sur 300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" y="3648456"/>
            <a:ext cx="11612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3648456"/>
            <a:ext cx="109728" cy="6858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675888"/>
            <a:ext cx="1115568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Pipeline professionnel : validation colonnes, imputation KNN, sélecteur auto F-beta, seuil embarqué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" y="4453128"/>
            <a:ext cx="11612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4453128"/>
            <a:ext cx="109728" cy="6858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480560"/>
            <a:ext cx="1115568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Application fonctionnelle : entrée CSV ou manuelle, output binaire + récapitulatif en temps réel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457200"/>
            <a:ext cx="4572000" cy="45720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3657600"/>
            <a:ext cx="2743200" cy="274320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questions 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3566160"/>
            <a:ext cx="3657600" cy="457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Gauthier Julien  ·  Data Analyst Senior  ·  Juin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2026-07-15T18:31:06Z</dcterms:created>
  <dcterms:modified xsi:type="dcterms:W3CDTF">2026-07-15T18:31:06Z</dcterms:modified>
</cp:coreProperties>
</file>