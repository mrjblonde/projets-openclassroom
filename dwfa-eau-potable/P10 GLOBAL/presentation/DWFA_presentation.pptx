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61520" cy="15544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669280"/>
            <a:ext cx="12161520" cy="118872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" name="Shape 3"/>
          <p:cNvSpPr/>
          <p:nvPr/>
        </p:nvSpPr>
        <p:spPr>
          <a:xfrm>
            <a:off x="5623560" y="731520"/>
            <a:ext cx="914400" cy="914400"/>
          </a:xfrm>
          <a:prstGeom prst="ellipse">
            <a:avLst/>
          </a:prstGeom>
          <a:solidFill>
            <a:srgbClr val="378AD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DWFA — Drinking Water For All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 d'aide à la décision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0" y="3749040"/>
            <a:ext cx="3931920" cy="36576"/>
          </a:xfrm>
          <a:prstGeom prst="rect">
            <a:avLst/>
          </a:prstGeom>
          <a:solidFill>
            <a:srgbClr val="B5D4F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 10 — Data Analyst | Juillet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Contexte du projet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303520" cy="25603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L'objectif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Identifier les pays prioritaires pour les investissements de DWFA en matière d'accès à l'eau potable, via un tableau de bord interactif.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303520" cy="25603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La demande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tableau de bord interactif en 3 vues (Monde / Continent / Pays) pour guider les décisions d'investissement du bailleur de fonds.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3 domaines d'expertise DWFA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4663440"/>
            <a:ext cx="3657600" cy="18288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709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Domaine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5074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Création de services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5440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Construire de nouvelles infrastructures d'eau potable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4663440"/>
            <a:ext cx="3657600" cy="18288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4709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5074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Modernisation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5440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Améliorer les infrastructures existantes de mauvaise qualité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663440"/>
            <a:ext cx="3657600" cy="18288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4709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Domaine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5074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54406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Conseiller les gouvernements sur leurs politiques d'accès à l'eau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de données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577840" cy="160020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57200" cy="160020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 Services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89888"/>
            <a:ext cx="1188720" cy="274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399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17556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2000–2017 | 194 pays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Taux d'accès à l'eau basique et safely managed (Rural/Urban/Total)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5577840" cy="160020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280160"/>
            <a:ext cx="457200" cy="160020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Mortalité WASH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07040" y="1389888"/>
            <a:ext cx="1188720" cy="27432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10607040" y="13990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03720" y="17556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2016 | 183 pays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2057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Taux de mortalité lié à l'eau insalubre (p.100k hab.) — Male/Female/Total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5577840" cy="160020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63240"/>
            <a:ext cx="457200" cy="1600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Stabilité Politique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172968"/>
            <a:ext cx="1188720" cy="2743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182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Banque Mondiale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35387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2000–2018 | 200 pays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3840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Indice de stabilité politique [-3.5 / +2.5]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063240"/>
            <a:ext cx="5577840" cy="160020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063240"/>
            <a:ext cx="457200" cy="16002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607040" y="3172968"/>
            <a:ext cx="1188720" cy="27432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0" name="Text 28"/>
          <p:cNvSpPr/>
          <p:nvPr/>
        </p:nvSpPr>
        <p:spPr>
          <a:xfrm>
            <a:off x="10607040" y="31821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35387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2000–2018 | 219 pays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3840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 Total / Rural / Urban en milliers — référentiel géographique principal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846320"/>
            <a:ext cx="5577840" cy="160020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846320"/>
            <a:ext cx="457200" cy="160020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35" name="Text 33"/>
          <p:cNvSpPr/>
          <p:nvPr/>
        </p:nvSpPr>
        <p:spPr>
          <a:xfrm>
            <a:off x="96012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Région–Pays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4956048"/>
            <a:ext cx="1188720" cy="27432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49651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60120" y="53218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 | 194 pays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0120" y="5623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de correspondance pays → région OMS (6 régions)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4846320"/>
            <a:ext cx="5577840" cy="160020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4846320"/>
            <a:ext cx="457200" cy="1600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Gov. Effectiveness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607040" y="4956048"/>
            <a:ext cx="1188720" cy="2743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4" name="Text 42"/>
          <p:cNvSpPr/>
          <p:nvPr/>
        </p:nvSpPr>
        <p:spPr>
          <a:xfrm>
            <a:off x="10607040" y="496519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Calculé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03720" y="53218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2016 | 182 pays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5623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d'efficacité politique = (1 - mortalité_norm + accès_eau) /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Nettoyage et décisions méthodologiques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Pipeline Bronze → Silver → Gold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niveaux de transformation : données brutes → nettoyées → prêtes pour Power BI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 Référentiel géographique FAO (219 pays)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Choix de la FAO pour la scalabilité du modèle — les pays sans données OMS conservés avec NaN assumés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75488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892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📛  Harmonisation des noms de pays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3492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Suppression des parenthèses (Iran, Bolivie...), renommage North Macedonia, Congo → Republic of Congo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417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🇨🇳  Gestion des doublons Chine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8745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China, mainland → China. Suppression de HK, Macao, Taiwan de Population → 7.62B pop. mondiale correcte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01752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154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Pivots des tables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6118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long → large : Rural/Urban/Total en colonnes séparées pour éviter les doubles comptages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75488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8920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Anomalie Érythrée documentée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534924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pop_urban + pop_rural &gt; pop_total sur certains pays FAO — incohérence de modèles statistiques assumée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 clés (KPI)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57784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640080" cy="11887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Accès eau basic (%)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population ayant accès à une source d'eau basique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371600"/>
            <a:ext cx="548640" cy="32004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3898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557784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06040"/>
            <a:ext cx="640080" cy="11887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Safely managed (%)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population avec eau sûre gérée — 69% NaN assumés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2697480"/>
            <a:ext cx="548640" cy="32004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2715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557784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31920"/>
            <a:ext cx="640080" cy="118872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297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Mortalité WASH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434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Taux de décès liés à l'eau insalubre (p.100k hab.) — 2016 uniquement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4023360"/>
            <a:ext cx="548640" cy="32004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4041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5257800"/>
            <a:ext cx="557784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5257800"/>
            <a:ext cx="640080" cy="118872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5623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5349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WASH Deaths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5760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 absolu de décès — indicateur d'impact storytelling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5349240"/>
            <a:ext cx="548640" cy="32004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0" y="5367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09360" y="1280160"/>
            <a:ext cx="557784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1280160"/>
            <a:ext cx="640080" cy="118872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Stabilité politique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40880" y="1783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Indice Banque Mondiale [-3.5 / +2.5] — filtre obligatoire CR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1247120" y="1371600"/>
            <a:ext cx="548640" cy="3200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9" name="Text 37"/>
          <p:cNvSpPr/>
          <p:nvPr/>
        </p:nvSpPr>
        <p:spPr>
          <a:xfrm>
            <a:off x="11247120" y="13898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2606040"/>
            <a:ext cx="557784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2606040"/>
            <a:ext cx="640080" cy="118872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2971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4088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Pop. urbaine (%)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4088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population en zone urbaine — faisabilité intervention terrain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1247120" y="2697480"/>
            <a:ext cx="548640" cy="3200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6" name="Text 44"/>
          <p:cNvSpPr/>
          <p:nvPr/>
        </p:nvSpPr>
        <p:spPr>
          <a:xfrm>
            <a:off x="11247120" y="27157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9360" y="3931920"/>
            <a:ext cx="557784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3931920"/>
            <a:ext cx="640080" cy="118872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42976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04088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Population totale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040880" y="4434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valeur réelle (×1000) — contexte taille pays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1247120" y="4023360"/>
            <a:ext cx="548640" cy="3200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53" name="Text 51"/>
          <p:cNvSpPr/>
          <p:nvPr/>
        </p:nvSpPr>
        <p:spPr>
          <a:xfrm>
            <a:off x="11247120" y="4041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Blueprint — Tableau de bord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11795760" cy="41148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Besoin utilisateur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143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49840" y="1143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" y="1554480"/>
            <a:ext cx="11795760" cy="32004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00200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MONDIALE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1874520"/>
            <a:ext cx="11795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2938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Voir répartition mondiale accès eau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1929384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basic_pct_total par pays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192938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 choroplèthe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49840" y="192938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2258568"/>
            <a:ext cx="11795760" cy="384048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1343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Comprendre stabilité politique mondiale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31343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political_stability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23134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 + Slider filtre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49840" y="231343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82880" y="2642616"/>
            <a:ext cx="11795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974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niveau service par région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26974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+ safely + no_acces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26974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Stacked barplot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49840" y="269748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2880" y="3026664"/>
            <a:ext cx="11795760" cy="3200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072384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CONTINENTALE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3346704"/>
            <a:ext cx="11795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40156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Comparer pays d'un continent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340156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basic_pct_total par pays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34015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Grouped barplot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149840" y="340156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3730752"/>
            <a:ext cx="11795760" cy="384048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78561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Répartition Rural vs Urban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0" y="378561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pop_rural / pop_urban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378561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Stacked barplot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149840" y="378561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4114800"/>
            <a:ext cx="11795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169664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Domaine 2 — Modernisation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89120" y="4169664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vs safely managed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89520" y="41696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 plot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149840" y="4169664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4498848"/>
            <a:ext cx="11795760" cy="3200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544568"/>
            <a:ext cx="1161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NATIONALE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2880" y="4818888"/>
            <a:ext cx="11795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7375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Évolution accès eau dans le temps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89120" y="48737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+ safely (2000-2017)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589520" y="487375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plot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149840" y="4873752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5202936"/>
            <a:ext cx="11795760" cy="384048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52578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Évolution population rurale/urbaine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89120" y="52578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pop_rural + pop_urban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589520" y="52578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plot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149840" y="525780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82880" y="5586984"/>
            <a:ext cx="11795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56418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Domaine 1 — Création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389120" y="564184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vs pop urbaine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589520" y="56418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 plot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149840" y="56418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82880" y="5971032"/>
            <a:ext cx="11795760" cy="384048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02589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Domaine 3 — Consulting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389120" y="602589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gov_score vs stabilité pol.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589520" y="602589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 plot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149840" y="6025896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Justification du choix — Power BI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Modèle en étoile natif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gère nativement les relations entre tables sans jointure manuelle — optimise les performances d'affichage (critère CR)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508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Tous les types de graphiques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Cartes, scatter plots, line plots, barplots, donuts — tous disponibles nativement sans plugin externe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46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🔢  DAX pour les mesures calculées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Création de mesures dynamiques (gov_score, population réelle, sans accès %) directement dans l'outil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10896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246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🎛️  Filtres et slicers interactifs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7033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Slider stabilité politique, filtres année/région/pays — interactivité native répondant à tous les critères du CR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84632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983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🗺️  Cartographie intégrée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Cartes choroplèthes natives via Bing Maps — aucun outil externe nécessaire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846320"/>
            <a:ext cx="5577840" cy="155448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983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2C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 Export .pbix + partage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54406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standard, compatible avec Power BI Service pour le partage et la publication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Perspectives d'amélioration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Données plus récentes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Intégration des données OMS/FAO via API jusqu'en 2023 — le modèle est scalable et prêt pour cette mise à jour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486400" cy="21945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 Extension référentiel FAO (239 pays)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Passer de 219 pays (OMS) à 239 pays (FAO) pour une couverture maximale — architecture déjà prévue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21945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Score de vulnérabilité composite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 combinant accès eau + mortalité + pop. rurale pour identifier automatiquement le pays le plus prioritaire par continent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840480"/>
            <a:ext cx="5486400" cy="21945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 Version mobile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5720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Optimisation du dashboard pour mobile via Power BI Mobile — accessible sur le terrain par les équipes DWFA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Ces améliorations sont possibles sans refonte du modèle de données — l'architecture en étoile a été conçue pour évoluer.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42C53"/>
          </a:solidFill>
          <a:ln/>
        </p:spPr>
      </p:sp>
      <p:sp>
        <p:nvSpPr>
          <p:cNvPr id="3" name="Shape 1"/>
          <p:cNvSpPr/>
          <p:nvPr/>
        </p:nvSpPr>
        <p:spPr>
          <a:xfrm>
            <a:off x="5166360" y="731520"/>
            <a:ext cx="1828800" cy="182880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4" name="Text 2"/>
          <p:cNvSpPr/>
          <p:nvPr/>
        </p:nvSpPr>
        <p:spPr>
          <a:xfrm>
            <a:off x="5166360" y="10058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💧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Démonstration du dashboard Power BI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47548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Notebook Python prétraitement (Bronze → Gold)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525780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Dashboard Power BI interactif (3 vues)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576072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5D4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Tous les critères techniques du CR couverts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2026-07-09T16:32:54Z</dcterms:created>
  <dcterms:modified xsi:type="dcterms:W3CDTF">2026-07-09T16:32:54Z</dcterms:modified>
</cp:coreProperties>
</file>