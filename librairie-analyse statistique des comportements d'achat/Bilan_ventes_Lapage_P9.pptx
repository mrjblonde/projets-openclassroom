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566928" cy="502920"/>
          </a:xfrm>
          <a:prstGeom prst="rect">
            <a:avLst/>
          </a:prstGeom>
          <a:solidFill>
            <a:srgbClr val="B8753D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355080"/>
            <a:ext cx="566928" cy="502920"/>
          </a:xfrm>
          <a:prstGeom prst="rect">
            <a:avLst/>
          </a:prstGeom>
          <a:solidFill>
            <a:srgbClr val="4C6B4F"/>
          </a:solidFill>
          <a:ln/>
        </p:spPr>
      </p:sp>
      <p:sp>
        <p:nvSpPr>
          <p:cNvPr id="4" name="Shape 2"/>
          <p:cNvSpPr/>
          <p:nvPr/>
        </p:nvSpPr>
        <p:spPr>
          <a:xfrm>
            <a:off x="1737360" y="6355080"/>
            <a:ext cx="566928" cy="502920"/>
          </a:xfrm>
          <a:prstGeom prst="rect">
            <a:avLst/>
          </a:prstGeom>
          <a:solidFill>
            <a:srgbClr val="8C5A2B"/>
          </a:solidFill>
          <a:ln/>
        </p:spPr>
      </p:sp>
      <p:sp>
        <p:nvSpPr>
          <p:cNvPr id="5" name="Shape 3"/>
          <p:cNvSpPr/>
          <p:nvPr/>
        </p:nvSpPr>
        <p:spPr>
          <a:xfrm>
            <a:off x="2606040" y="6355080"/>
            <a:ext cx="566928" cy="502920"/>
          </a:xfrm>
          <a:prstGeom prst="rect">
            <a:avLst/>
          </a:prstGeom>
          <a:solidFill>
            <a:srgbClr val="6E5A3E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6355080"/>
            <a:ext cx="566928" cy="502920"/>
          </a:xfrm>
          <a:prstGeom prst="rect">
            <a:avLst/>
          </a:prstGeom>
          <a:solidFill>
            <a:srgbClr val="8C3B41"/>
          </a:solidFill>
          <a:ln/>
        </p:spPr>
      </p:sp>
      <p:sp>
        <p:nvSpPr>
          <p:cNvPr id="7" name="Shape 5"/>
          <p:cNvSpPr/>
          <p:nvPr/>
        </p:nvSpPr>
        <p:spPr>
          <a:xfrm>
            <a:off x="4343400" y="6355080"/>
            <a:ext cx="566928" cy="502920"/>
          </a:xfrm>
          <a:prstGeom prst="rect">
            <a:avLst/>
          </a:prstGeom>
          <a:solidFill>
            <a:srgbClr val="B8753D"/>
          </a:solidFill>
          <a:ln/>
        </p:spPr>
      </p:sp>
      <p:sp>
        <p:nvSpPr>
          <p:cNvPr id="8" name="Shape 6"/>
          <p:cNvSpPr/>
          <p:nvPr/>
        </p:nvSpPr>
        <p:spPr>
          <a:xfrm>
            <a:off x="5212080" y="6355080"/>
            <a:ext cx="566928" cy="502920"/>
          </a:xfrm>
          <a:prstGeom prst="rect">
            <a:avLst/>
          </a:prstGeom>
          <a:solidFill>
            <a:srgbClr val="B8753D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6355080"/>
            <a:ext cx="566928" cy="502920"/>
          </a:xfrm>
          <a:prstGeom prst="rect">
            <a:avLst/>
          </a:prstGeom>
          <a:solidFill>
            <a:srgbClr val="4C6B4F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0" y="6355080"/>
            <a:ext cx="566928" cy="502920"/>
          </a:xfrm>
          <a:prstGeom prst="rect">
            <a:avLst/>
          </a:prstGeom>
          <a:solidFill>
            <a:srgbClr val="8C5A2B"/>
          </a:solidFill>
          <a:ln/>
        </p:spPr>
      </p:sp>
      <p:sp>
        <p:nvSpPr>
          <p:cNvPr id="11" name="Shape 9"/>
          <p:cNvSpPr/>
          <p:nvPr/>
        </p:nvSpPr>
        <p:spPr>
          <a:xfrm>
            <a:off x="7818120" y="6355080"/>
            <a:ext cx="566928" cy="502920"/>
          </a:xfrm>
          <a:prstGeom prst="rect">
            <a:avLst/>
          </a:prstGeom>
          <a:solidFill>
            <a:srgbClr val="6E5A3E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6355080"/>
            <a:ext cx="566928" cy="502920"/>
          </a:xfrm>
          <a:prstGeom prst="rect">
            <a:avLst/>
          </a:prstGeom>
          <a:solidFill>
            <a:srgbClr val="8C3B41"/>
          </a:solidFill>
          <a:ln/>
        </p:spPr>
      </p:sp>
      <p:sp>
        <p:nvSpPr>
          <p:cNvPr id="13" name="Shape 11"/>
          <p:cNvSpPr/>
          <p:nvPr/>
        </p:nvSpPr>
        <p:spPr>
          <a:xfrm>
            <a:off x="9555480" y="6355080"/>
            <a:ext cx="566928" cy="502920"/>
          </a:xfrm>
          <a:prstGeom prst="rect">
            <a:avLst/>
          </a:prstGeom>
          <a:solidFill>
            <a:srgbClr val="B8753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24160" y="6355080"/>
            <a:ext cx="566928" cy="502920"/>
          </a:xfrm>
          <a:prstGeom prst="rect">
            <a:avLst/>
          </a:prstGeom>
          <a:solidFill>
            <a:srgbClr val="B8753D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92840" y="6355080"/>
            <a:ext cx="566928" cy="502920"/>
          </a:xfrm>
          <a:prstGeom prst="rect">
            <a:avLst/>
          </a:prstGeom>
          <a:solidFill>
            <a:srgbClr val="4C6B4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7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9 — DATA ANALYST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196596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des ventes :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Librairie Lapage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la performance commerciale et des comportements clients depuis l'ouverture du site en ligne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au comité de direction — Sylvain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DE LA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source de données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le point sur les activités en ligne de la librairie depuis son ouverture, afin d'orienter les décisions stratégiques de la direction.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EFE0C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Jeux de données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profils clients (sexe, naissance)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catalogue (prix, catégorie)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historique des achats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directe depuis le site web de la librairie.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237744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1F2A4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7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Période d'analyse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63640" y="3108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263640" y="4114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d'activité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2021 → février 2023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5029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éclairer les décisions de Sylvain sur les offres, les prix et le ciblage clients.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exploratoire des données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3520440" cy="109728"/>
          </a:xfrm>
          <a:prstGeom prst="rect">
            <a:avLst/>
          </a:prstGeom>
          <a:solidFill>
            <a:srgbClr val="B875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7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8 621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657600"/>
            <a:ext cx="2971800" cy="0"/>
          </a:xfrm>
          <a:prstGeom prst="line">
            <a:avLst/>
          </a:prstGeom>
          <a:noFill/>
          <a:ln w="12700">
            <a:solidFill>
              <a:srgbClr val="D8CB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colonnes — client_id, sex, birth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5074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7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valeur manquante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9120" y="173736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737360"/>
            <a:ext cx="3520440" cy="109728"/>
          </a:xfrm>
          <a:prstGeom prst="rect">
            <a:avLst/>
          </a:prstGeom>
          <a:solidFill>
            <a:srgbClr val="4C6B4F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011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2468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C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3 286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63440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657600"/>
            <a:ext cx="2971800" cy="0"/>
          </a:xfrm>
          <a:prstGeom prst="line">
            <a:avLst/>
          </a:prstGeom>
          <a:noFill/>
          <a:ln w="12700">
            <a:solidFill>
              <a:srgbClr val="D8CB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colonnes — id_prod, price, categ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5074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valeur manquante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173736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0" y="1737360"/>
            <a:ext cx="3520440" cy="109728"/>
          </a:xfrm>
          <a:prstGeom prst="rect">
            <a:avLst/>
          </a:prstGeom>
          <a:solidFill>
            <a:srgbClr val="8C3B41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2011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0" y="2468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C3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1 048 575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412480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brutes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12480" y="3657600"/>
            <a:ext cx="2971800" cy="0"/>
          </a:xfrm>
          <a:prstGeom prst="line">
            <a:avLst/>
          </a:prstGeom>
          <a:noFill/>
          <a:ln w="12700">
            <a:solidFill>
              <a:srgbClr val="D8CB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colonnes — id_prod, date, session_id, client_id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12480" y="5074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3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361 041 valeurs manquantes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nettoyage des lignes vides : 687 534 transactions valides exploitées pour la suite de l'analyse.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des données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017520" y="1737360"/>
            <a:ext cx="2194560" cy="594360"/>
          </a:xfrm>
          <a:prstGeom prst="roundRect">
            <a:avLst>
              <a:gd name="adj" fmla="val 9231"/>
            </a:avLst>
          </a:prstGeom>
          <a:solidFill>
            <a:srgbClr val="B8753D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17520" y="1737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0" y="2034540"/>
            <a:ext cx="1005840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217920" y="1737360"/>
            <a:ext cx="2194560" cy="594360"/>
          </a:xfrm>
          <a:prstGeom prst="roundRect">
            <a:avLst>
              <a:gd name="adj" fmla="val 9231"/>
            </a:avLst>
          </a:prstGeom>
          <a:solidFill>
            <a:srgbClr val="8C3B41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737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clients ne sont pas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associés à des transactions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2331720"/>
            <a:ext cx="0" cy="32004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4640" y="2651760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1F2A44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34640" y="2651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+ transactions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2948940"/>
            <a:ext cx="914400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265176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4C6B4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651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produits ne sont pas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associés à des transactions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3246120"/>
            <a:ext cx="0" cy="32004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103120" y="3566160"/>
            <a:ext cx="6035040" cy="777240"/>
          </a:xfrm>
          <a:prstGeom prst="roundRect">
            <a:avLst>
              <a:gd name="adj" fmla="val 7059"/>
            </a:avLst>
          </a:prstGeom>
          <a:solidFill>
            <a:srgbClr val="8C5A2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03120" y="35661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+ transactions + products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0" y="3520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8C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687 534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50392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dans le dataset final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7548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FE0C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7548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Remarque méthodologique  —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clients BtoB atypiques (CA &gt; 100 000 €) ont été identifiés et exclus du notebook statistique, afin de ne pas fausser les tests de corrélation sur la base BtoC.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VENTE — ANNABELLE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chiffre d'affaires stable, avec un pic début 2022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ca_mensu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860" y="1691640"/>
            <a:ext cx="10177801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stable entre 480 k€ et 535 k€/mois. Pic en janvier 2022, lié à la saisonnalité de fin d'année. La chute de février 2023 correspond à un mois incomplet et ne traduit pas un déclin.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VENTE — ANNABELLE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Tendance, saisonnalité et résidu du chiffre d'affaires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057400" y="1417320"/>
            <a:ext cx="804672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0126" y="1554480"/>
            <a:ext cx="550126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VENTE — ANNABELLE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catégorie 1 prend le dessus à partir de fin 2021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ca_categ_ev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469" y="1691640"/>
            <a:ext cx="9618581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 1 en progression continue. Catégorie 0 stable. Catégorie 2 plus volatile, avec un creux marqué à l'été 2021.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VENTE — ANNABELLE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catégories progressent de façon homogène entre 2021 et 2022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143000" y="1554480"/>
            <a:ext cx="987552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ca_annuel_cat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95193"/>
            <a:ext cx="9601200" cy="39248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ne compte que 2 mois de données — la baisse apparente n'est pas comparable aux années complètes.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VENTE — ANNABELLE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base clients stable, avec un pic en octobre 2021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clients_mo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469" y="1691640"/>
            <a:ext cx="9618581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97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7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5 750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651760" y="59436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actifs en moyenne / mois — pic à 6 190 en octobre 2021, cause à investiguer.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VENTE — ANNABELLE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transactions stables, marquées par la saisonnalité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transactions_mo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469" y="1691640"/>
            <a:ext cx="9618581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13 500 et 15 600 transactions par mois. Creux estival en juillet, pic en décembre lié aux fêtes de fin d'année.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VENTE — ANNABELLE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catalogue exploité en continu, un panier moyen stable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produits_mo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10764"/>
            <a:ext cx="5303520" cy="21679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21488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7" name="Image 1" descr="/home/claude/pptx_p9/imgs/panier_moyen_mo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710764"/>
            <a:ext cx="5303520" cy="21679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989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2 375 à 2 560 références vendues / mois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17920" y="5989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 global : 34.81 € — pic à 37.3€ en février 2022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PRODUITS — ANNABELLE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meilleures ventes diffèrent en montant et en volume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top3_annu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469" y="1691640"/>
            <a:ext cx="9618581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Top CA est dominé par la catégorie 2 (prix élevés). Le Top volume est porté par la catégorie 1 (forte rotation). Deux leviers business distincts.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PRODUITS — ANNABELLE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références extrêmes en chiffre d'affaires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115568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top_fl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454" y="1783080"/>
            <a:ext cx="10370611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94 894 €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générés par 2_159, leader incontesté — les flops sont tous en catégorie 0, vendus à très bas prix.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PRODUITS — ANNABELLE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paradoxe de la catégorie 2 : peu de volume, beaucoup de valeur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volume_vale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7846" y="1691640"/>
            <a:ext cx="8745829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clé  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catégorie 2 ne pèse que 5.3% du volume mais 23.1% du CA : un levier de croissance sous-exploité.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CLIENTS — ANNABELLE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clients BtoB concentrent 7.4% du chiffre d'affaires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bt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281" y="1691640"/>
            <a:ext cx="8792958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c_1609, c_4958, c_6714 et c_3454 dépassent chacun 100 000 € de CA — un palier sans équivalent chez les clients BtoC (5 285 € max).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CLIENTS — ANNABELLE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chiffre d'affaires est concentré sur une partie des clients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694944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loren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21860"/>
            <a:ext cx="6675120" cy="27286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8288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1F2A4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5528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 Gini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0" y="2377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0.442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795528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inégalité modérée à forte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80960" y="38862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clients BtoB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tirent ce coefficient vers le haut — ils représentent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 du CA total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Sans eux, le Gini serait proche de 0.38.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0" y="5394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minorité de clients génère une majorité du CA — fidéliser les meilleurs clients BtoC et sécuriser les contrats BtoB est stratégiquement prioritaire.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 CLIENTS — JULIE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 : comment choisir le bon test statistique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chaque test, on vérifie systématiquement deux conditions préalables — c'est ce qui dicte le test final, pas une préférence personnelle.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232E4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40280"/>
            <a:ext cx="3520440" cy="91440"/>
          </a:xfrm>
          <a:prstGeom prst="rect">
            <a:avLst/>
          </a:prstGeom>
          <a:solidFill>
            <a:srgbClr val="B8753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50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 × Quali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: Chi²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 : V de Cramér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: effectifs théoriques ≥ 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4617720"/>
            <a:ext cx="3063240" cy="0"/>
          </a:xfrm>
          <a:prstGeom prst="line">
            <a:avLst/>
          </a:prstGeom>
          <a:noFill/>
          <a:ln w="12700">
            <a:solidFill>
              <a:srgbClr val="3D4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754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87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— Test 1 (Genre × Catégorie)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224028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232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240280"/>
            <a:ext cx="3520440" cy="91440"/>
          </a:xfrm>
          <a:prstGeom prst="rect">
            <a:avLst/>
          </a:prstGeom>
          <a:solidFill>
            <a:srgbClr val="6FA873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450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 × Quanti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17720" y="3017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Shapiro-Wilk sur les 2 variables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Normales → Pearson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Non-normales → Spearman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4617720"/>
            <a:ext cx="3063240" cy="0"/>
          </a:xfrm>
          <a:prstGeom prst="line">
            <a:avLst/>
          </a:prstGeom>
          <a:noFill/>
          <a:ln w="12700">
            <a:solidFill>
              <a:srgbClr val="3D4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4754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6F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— Tests 2, 3, 4 (Âge × ...)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224028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232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2240280"/>
            <a:ext cx="3520440" cy="91440"/>
          </a:xfrm>
          <a:prstGeom prst="rect">
            <a:avLst/>
          </a:prstGeom>
          <a:solidFill>
            <a:srgbClr val="C97278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450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 × Quali (3 groupes+)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66760" y="3017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Shapiro-Wilk par groupe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Levene (égalité des variances)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→ ANOVA  /  Sinon → Kruskal-Wallis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66760" y="4617720"/>
            <a:ext cx="3063240" cy="0"/>
          </a:xfrm>
          <a:prstGeom prst="line">
            <a:avLst/>
          </a:prstGeom>
          <a:noFill/>
          <a:ln w="12700">
            <a:solidFill>
              <a:srgbClr val="3D4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4754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C9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— Test 5 (Âge × Catégorie)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87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envisagés mais non retenus  —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(petits effectifs), Pearson (distributions non-normales ici), Student/Mann-Whitney (réservés à 2 groupes), ANOVA (conditions de normalité et d'homoscédasticité non remplies).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 CLIENTS — JULIE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genre n'influence pas la catégorie achetée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667512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genre_cat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23648"/>
            <a:ext cx="6400800" cy="261654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737360"/>
            <a:ext cx="4206240" cy="4434840"/>
          </a:xfrm>
          <a:prstGeom prst="roundRect">
            <a:avLst>
              <a:gd name="adj" fmla="val 1739"/>
            </a:avLst>
          </a:prstGeom>
          <a:solidFill>
            <a:srgbClr val="EFE0CC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du Chi²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0" y="2377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= 0.086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0.05  →  H0 non rejetée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589520" y="3246120"/>
            <a:ext cx="3657600" cy="0"/>
          </a:xfrm>
          <a:prstGeom prst="line">
            <a:avLst/>
          </a:prstGeom>
          <a:noFill/>
          <a:ln w="12700">
            <a:solidFill>
              <a:srgbClr val="D9C6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3383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de Cramér = 0.018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quasi inexistant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89520" y="4160520"/>
            <a:ext cx="3657600" cy="0"/>
          </a:xfrm>
          <a:prstGeom prst="line">
            <a:avLst/>
          </a:prstGeom>
          <a:noFill/>
          <a:ln w="12700">
            <a:solidFill>
              <a:srgbClr val="D9C6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43434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hommes et femmes achètent dans des proportions quasi identiques. Une campagne marketing par genre ne serait pas pertinente.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 CLIENTS — JULIE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L'âge explique peu le montant total dépensé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age_mon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469" y="1691640"/>
            <a:ext cx="9618581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négative faible (Spearman, ρ = -0.18, p &lt; 0.001)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les clients plus âgés dépensent légèrement moins au total, mais l'âge n'est pas le facteur principal.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 CLIENTS — JULIE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30-50 ans achètent plus fréquemment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age_fr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469" y="1691640"/>
            <a:ext cx="9618581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positive très faible (Spearman, ρ = +0.13, p &lt; 0.001)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le pic de fréquence se concentre nettement chez les 30-50 ans.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 CLIENTS — JULIE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moins de 30 ans ont un panier moyen plus élevé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age_pan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469" y="1691640"/>
            <a:ext cx="9618581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négative modérée (Spearman, ρ = -0.33, p &lt; 0.001)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la plus forte des 3 tests d'âge. Les jeunes dépensent plus par achat mais achètent moins souvent.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 CLIENTS — JULIE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catégories de livres touchent des publics d'âge différents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722376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8CB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/home/claude/pptx_p9/imgs/age_categ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20071"/>
            <a:ext cx="6949440" cy="28408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73736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F2A44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de Kruskal-Wallis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2003.57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04672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  →  H0 rejetée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46720" y="3474720"/>
            <a:ext cx="3200400" cy="0"/>
          </a:xfrm>
          <a:prstGeom prst="line">
            <a:avLst/>
          </a:prstGeom>
          <a:noFill/>
          <a:ln w="12700">
            <a:solidFill>
              <a:srgbClr val="3340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 ❌  +  Levene ❌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Kruskal-Wallis préféré à l'ANOVA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46720" y="43891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 2 ≈ 22.8 ans : public jeune ultra homogène, ciblage marketing très précis possible.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7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PRÉCONISATIONS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recommandons à la direction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32E4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7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0" y="202996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Investiguer février 2023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48716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 baisse simultanée des clients, transactions et ventes — mois incomplet ou signal d'alerte réel 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32E4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7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86000" y="353872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Fidéliser les moins de 30 ans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0" y="3995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 élevé mais fréquence faible — un programme de fidélité pourrait inciter à des achats plus réguliers.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32E4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463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7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286000" y="50474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Augmenter le panier des 30-50 ans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86000" y="550468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d'achat déjà élevée — leviers de cross-sell ou d'offres groupées pour faire croître le panier moyen.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 CLIENTS — JULIE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des 5 tests statistiques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L'âge est le facteur le plus discriminant. Le genre ne doit pas être utilisé comme critère de ciblage.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1521440" cy="50292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411480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testée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2194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retenu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52560" y="2194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11521440" cy="694944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392424"/>
            <a:ext cx="11521440" cy="0"/>
          </a:xfrm>
          <a:prstGeom prst="line">
            <a:avLst/>
          </a:prstGeom>
          <a:noFill/>
          <a:ln w="6350">
            <a:solidFill>
              <a:srgbClr val="D8CB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898648"/>
            <a:ext cx="274320" cy="292608"/>
          </a:xfrm>
          <a:prstGeom prst="roundRect">
            <a:avLst>
              <a:gd name="adj" fmla="val 13333"/>
            </a:avLst>
          </a:prstGeom>
          <a:solidFill>
            <a:srgbClr val="C0C0C0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89864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697480"/>
            <a:ext cx="2926080" cy="69494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× Catégorie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0" y="2697480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Chi²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0" y="2697480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 —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0.086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2697480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0.086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52560" y="2697480"/>
            <a:ext cx="3108960" cy="69494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lien — le genre n'influence pas la catégorie achetée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392424"/>
            <a:ext cx="11521440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087368"/>
            <a:ext cx="11521440" cy="0"/>
          </a:xfrm>
          <a:prstGeom prst="line">
            <a:avLst/>
          </a:prstGeom>
          <a:noFill/>
          <a:ln w="6350">
            <a:solidFill>
              <a:srgbClr val="D8CB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593592"/>
            <a:ext cx="274320" cy="292608"/>
          </a:xfrm>
          <a:prstGeom prst="roundRect">
            <a:avLst>
              <a:gd name="adj" fmla="val 13333"/>
            </a:avLst>
          </a:prstGeom>
          <a:solidFill>
            <a:srgbClr val="4C6B4F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3392424"/>
            <a:ext cx="2926080" cy="69494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× Montant total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114800" y="3392424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0" y="3392424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-0.18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3392424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052560" y="3392424"/>
            <a:ext cx="3108960" cy="69494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négatif faible — les seniors dépensent légèrement moins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087368"/>
            <a:ext cx="11521440" cy="694944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4782312"/>
            <a:ext cx="11521440" cy="0"/>
          </a:xfrm>
          <a:prstGeom prst="line">
            <a:avLst/>
          </a:prstGeom>
          <a:noFill/>
          <a:ln w="6350">
            <a:solidFill>
              <a:srgbClr val="D8CB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288536"/>
            <a:ext cx="274320" cy="292608"/>
          </a:xfrm>
          <a:prstGeom prst="roundRect">
            <a:avLst>
              <a:gd name="adj" fmla="val 13333"/>
            </a:avLst>
          </a:prstGeom>
          <a:solidFill>
            <a:srgbClr val="4C6B4F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42885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4087368"/>
            <a:ext cx="2926080" cy="69494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× Fréquence d'achat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114800" y="4087368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0" y="4087368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+0.13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89520" y="408736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052560" y="4087368"/>
            <a:ext cx="3108960" cy="69494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positif très faible — les 30-50 ans achètent plus souvent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4782312"/>
            <a:ext cx="11521440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640080" y="5477256"/>
            <a:ext cx="11521440" cy="0"/>
          </a:xfrm>
          <a:prstGeom prst="line">
            <a:avLst/>
          </a:prstGeom>
          <a:noFill/>
          <a:ln w="6350">
            <a:solidFill>
              <a:srgbClr val="D8CB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4983480"/>
            <a:ext cx="274320" cy="292608"/>
          </a:xfrm>
          <a:prstGeom prst="roundRect">
            <a:avLst>
              <a:gd name="adj" fmla="val 13333"/>
            </a:avLst>
          </a:prstGeom>
          <a:solidFill>
            <a:srgbClr val="4C6B4F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4983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" y="4782312"/>
            <a:ext cx="2926080" cy="69494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× Panier moyen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114800" y="478231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0" y="4782312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-0.33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589520" y="4782312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9052560" y="4782312"/>
            <a:ext cx="3108960" cy="69494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négatif modéré — les jeunes ont un panier plus élevé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40080" y="5477256"/>
            <a:ext cx="11521440" cy="694944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49" name="Shape 47"/>
          <p:cNvSpPr/>
          <p:nvPr/>
        </p:nvSpPr>
        <p:spPr>
          <a:xfrm>
            <a:off x="640080" y="6172200"/>
            <a:ext cx="11521440" cy="0"/>
          </a:xfrm>
          <a:prstGeom prst="line">
            <a:avLst/>
          </a:prstGeom>
          <a:noFill/>
          <a:ln w="6350">
            <a:solidFill>
              <a:srgbClr val="D8CB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232" y="5678424"/>
            <a:ext cx="274320" cy="292608"/>
          </a:xfrm>
          <a:prstGeom prst="roundRect">
            <a:avLst>
              <a:gd name="adj" fmla="val 13333"/>
            </a:avLst>
          </a:prstGeom>
          <a:solidFill>
            <a:srgbClr val="4C6B4F"/>
          </a:solidFill>
          <a:ln/>
        </p:spPr>
      </p:sp>
      <p:sp>
        <p:nvSpPr>
          <p:cNvPr id="51" name="Text 49"/>
          <p:cNvSpPr/>
          <p:nvPr/>
        </p:nvSpPr>
        <p:spPr>
          <a:xfrm>
            <a:off x="713232" y="56784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97280" y="5477256"/>
            <a:ext cx="2926080" cy="69494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× Catégorie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4114800" y="5477256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669280" y="5477256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2003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589520" y="5477256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9052560" y="5477256"/>
            <a:ext cx="3108960" cy="69494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 très significative — chaque catégorie a son profil d'âge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40080" y="6080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4C6B4F"/>
          </a:solidFill>
          <a:ln/>
        </p:spPr>
      </p:sp>
      <p:sp>
        <p:nvSpPr>
          <p:cNvPr id="58" name="Text 56"/>
          <p:cNvSpPr/>
          <p:nvPr/>
        </p:nvSpPr>
        <p:spPr>
          <a:xfrm>
            <a:off x="886968" y="6053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Significatif (p &lt; 0.05)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657600" y="6080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0C0C0"/>
          </a:solidFill>
          <a:ln/>
        </p:spPr>
      </p:sp>
      <p:sp>
        <p:nvSpPr>
          <p:cNvPr id="60" name="Text 58"/>
          <p:cNvSpPr/>
          <p:nvPr/>
        </p:nvSpPr>
        <p:spPr>
          <a:xfrm>
            <a:off x="3904488" y="6053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significatif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des ventes - Librairie Lapage</dc:title>
  <dc:subject>PptxGenJS Presentation</dc:subject>
  <dc:creator>Data Analyst</dc:creator>
  <cp:lastModifiedBy>Data Analyst</cp:lastModifiedBy>
  <cp:revision>1</cp:revision>
  <dcterms:created xsi:type="dcterms:W3CDTF">2026-07-01T07:35:21Z</dcterms:created>
  <dcterms:modified xsi:type="dcterms:W3CDTF">2026-07-01T07:35:21Z</dcterms:modified>
</cp:coreProperties>
</file>